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7"/>
  </p:notesMasterIdLst>
  <p:sldIdLst>
    <p:sldId id="298" r:id="rId5"/>
    <p:sldId id="310" r:id="rId6"/>
    <p:sldId id="334" r:id="rId7"/>
    <p:sldId id="333" r:id="rId8"/>
    <p:sldId id="327" r:id="rId9"/>
    <p:sldId id="328" r:id="rId10"/>
    <p:sldId id="330" r:id="rId11"/>
    <p:sldId id="331" r:id="rId12"/>
    <p:sldId id="329" r:id="rId13"/>
    <p:sldId id="332" r:id="rId14"/>
    <p:sldId id="326" r:id="rId15"/>
    <p:sldId id="3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4B3"/>
    <a:srgbClr val="FFFF99"/>
    <a:srgbClr val="99CCFF"/>
    <a:srgbClr val="3399FF"/>
    <a:srgbClr val="457FBF"/>
    <a:srgbClr val="C0504C"/>
    <a:srgbClr val="008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1" autoAdjust="0"/>
    <p:restoredTop sz="95033" autoAdjust="0"/>
  </p:normalViewPr>
  <p:slideViewPr>
    <p:cSldViewPr>
      <p:cViewPr>
        <p:scale>
          <a:sx n="100" d="100"/>
          <a:sy n="100" d="100"/>
        </p:scale>
        <p:origin x="348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5" d="100"/>
          <a:sy n="105" d="100"/>
        </p:scale>
        <p:origin x="3168" y="114"/>
      </p:cViewPr>
      <p:guideLst/>
    </p:cSldViewPr>
  </p:notesViewPr>
  <p:gridSpacing cx="54863" cy="5486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F6BBD-8BC2-4053-9CD5-FCE49504D9E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2D607-48E4-4198-9DCA-76F91E72D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88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79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F8C4-C76E-CF8F-939F-9395A132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CF9E8-37FF-CD55-A330-4BA4965CD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0E972-1EFE-C13E-AB6D-7C0E8399B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E497A-7AC9-7127-3487-956BCCBAE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6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BAFA-E700-1647-3660-15409E6D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49567-D2C7-9749-C07E-F85BB010E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6C9AF-FA3A-66F7-D63A-C942025EB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F00F8-13C0-8AFF-B8BC-5034E3470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3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0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5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74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2D607-48E4-4198-9DCA-76F91E72D4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6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19610" y="1516389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7EE20-8FD6-B96D-5B6D-E91CA0F1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FB4E55-2678-18F3-7752-B83AEDB9FB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158240" y="879465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6923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>03/16/2026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>
            <a:off x="961615" y="1084581"/>
            <a:ext cx="1031598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2683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9083" y="14226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Machine Learning System: Drum Audio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/>
              <a:t>→ </a:t>
            </a:r>
            <a:r>
              <a:rPr lang="en-US" sz="3600" dirty="0">
                <a:solidFill>
                  <a:schemeClr val="tx1"/>
                </a:solidFill>
              </a:rPr>
              <a:t>MIDI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76050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cap="none" dirty="0"/>
              <a:t>Robert McKean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cap="none" dirty="0"/>
              <a:t>G</a:t>
            </a:r>
            <a:r>
              <a:rPr lang="en-US" sz="1400" cap="none" dirty="0"/>
              <a:t>lobal </a:t>
            </a:r>
            <a:r>
              <a:rPr lang="en-US" sz="1600" cap="none" dirty="0"/>
              <a:t>A</a:t>
            </a:r>
            <a:r>
              <a:rPr lang="en-US" sz="1400" cap="none" dirty="0"/>
              <a:t>ctive, LLC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Project Goal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96525-13CA-D883-A4F7-DE922FB36CD1}"/>
              </a:ext>
            </a:extLst>
          </p:cNvPr>
          <p:cNvSpPr txBox="1"/>
          <p:nvPr/>
        </p:nvSpPr>
        <p:spPr>
          <a:xfrm>
            <a:off x="886439" y="1362976"/>
            <a:ext cx="5992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Convert recorded drum audio into structured MIDI note events.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8CDB4-F410-242F-378F-E1D6F3D30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30" y="2450650"/>
            <a:ext cx="3989559" cy="17815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B910B4-4A0B-CA60-313C-F8CA10929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827" y="2410988"/>
            <a:ext cx="1751506" cy="2652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651D85-2F2F-4171-0ABC-46B7C4AEDC23}"/>
              </a:ext>
            </a:extLst>
          </p:cNvPr>
          <p:cNvSpPr/>
          <p:nvPr/>
        </p:nvSpPr>
        <p:spPr>
          <a:xfrm>
            <a:off x="5510300" y="3158885"/>
            <a:ext cx="2276801" cy="365125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AAB25-E805-AF67-4486-179355D5E097}"/>
              </a:ext>
            </a:extLst>
          </p:cNvPr>
          <p:cNvSpPr txBox="1"/>
          <p:nvPr/>
        </p:nvSpPr>
        <p:spPr>
          <a:xfrm>
            <a:off x="1542371" y="2081580"/>
            <a:ext cx="3688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Input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drum audio recording (wav)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66BB0D-B60B-BDED-3AEE-E7E4640A7EE1}"/>
              </a:ext>
            </a:extLst>
          </p:cNvPr>
          <p:cNvSpPr txBox="1"/>
          <p:nvPr/>
        </p:nvSpPr>
        <p:spPr>
          <a:xfrm>
            <a:off x="8016205" y="1243754"/>
            <a:ext cx="283432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Output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MIDI note events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note number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relative timing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velocity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092FE9-1C83-807D-BC27-6DB3DF0AFBA5}"/>
              </a:ext>
            </a:extLst>
          </p:cNvPr>
          <p:cNvSpPr txBox="1"/>
          <p:nvPr/>
        </p:nvSpPr>
        <p:spPr>
          <a:xfrm>
            <a:off x="1377782" y="5063508"/>
            <a:ext cx="9787303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Modeling Approach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dirty="0"/>
              <a:t>Train a convolutional neural network to predict time-aligned MIDI notes from STFT features computed on short audio slices.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C91108-F56A-1769-8429-8D8BCDFDC87B}"/>
              </a:ext>
            </a:extLst>
          </p:cNvPr>
          <p:cNvSpPr txBox="1"/>
          <p:nvPr/>
        </p:nvSpPr>
        <p:spPr>
          <a:xfrm>
            <a:off x="5558186" y="2577580"/>
            <a:ext cx="2146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Convolution-based </a:t>
            </a:r>
          </a:p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AI modeling</a:t>
            </a:r>
          </a:p>
        </p:txBody>
      </p:sp>
      <p:sp>
        <p:nvSpPr>
          <p:cNvPr id="303" name="PageLabel 303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2 of 12</a:t>
            </a:r>
          </a:p>
        </p:txBody>
      </p:sp>
    </p:spTree>
    <p:extLst>
      <p:ext uri="{BB962C8B-B14F-4D97-AF65-F5344CB8AC3E}">
        <p14:creationId xmlns:p14="http://schemas.microsoft.com/office/powerpoint/2010/main" val="150767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0CBFE-7A71-2B77-E635-6873477C3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51EA-29A7-05A1-ABD7-D5B18BF7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System Overview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CF87A-96D3-5729-3984-4B435CB7E1D5}"/>
              </a:ext>
            </a:extLst>
          </p:cNvPr>
          <p:cNvSpPr txBox="1"/>
          <p:nvPr/>
        </p:nvSpPr>
        <p:spPr>
          <a:xfrm>
            <a:off x="907006" y="1399069"/>
            <a:ext cx="683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 system converts short audio slices into MIDI activity predictions.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3FC62D-1D92-29C8-2234-28C3CE94D73F}"/>
              </a:ext>
            </a:extLst>
          </p:cNvPr>
          <p:cNvSpPr txBox="1"/>
          <p:nvPr/>
        </p:nvSpPr>
        <p:spPr>
          <a:xfrm>
            <a:off x="1322919" y="2259449"/>
            <a:ext cx="681826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The Pipeline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1. Extract short audio slices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2. Convert audio to spectral features (STFT)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3. Predict note activity with a CNN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4. Generate a MIDI activity heatmap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5. Extract note events </a:t>
            </a:r>
            <a:r>
              <a:rPr lang="en-US" sz="1600" dirty="0"/>
              <a:t>→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MIDI file</a:t>
            </a:r>
          </a:p>
        </p:txBody>
      </p:sp>
      <p:sp>
        <p:nvSpPr>
          <p:cNvPr id="304" name="PageLabel 304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3 of 12</a:t>
            </a:r>
          </a:p>
        </p:txBody>
      </p:sp>
    </p:spTree>
    <p:extLst>
      <p:ext uri="{BB962C8B-B14F-4D97-AF65-F5344CB8AC3E}">
        <p14:creationId xmlns:p14="http://schemas.microsoft.com/office/powerpoint/2010/main" val="241457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31242D-7717-A80E-8324-566EE3E3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4C82-5071-E1B3-36E5-96AEE478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Architecture Diagram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972B8E0-71C1-1012-93CC-4F5F44B06845}"/>
              </a:ext>
            </a:extLst>
          </p:cNvPr>
          <p:cNvSpPr/>
          <p:nvPr/>
        </p:nvSpPr>
        <p:spPr>
          <a:xfrm>
            <a:off x="4333941" y="2342441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E4DF3C-91EA-054B-C788-BF598B12A844}"/>
              </a:ext>
            </a:extLst>
          </p:cNvPr>
          <p:cNvSpPr txBox="1"/>
          <p:nvPr/>
        </p:nvSpPr>
        <p:spPr>
          <a:xfrm>
            <a:off x="1004942" y="5094511"/>
            <a:ext cx="9787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End-to-end architecture converting short audio slices into dense MIDI note activity predictions.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F385E51-10AB-AE36-A6D0-4B9BFE7380E0}"/>
              </a:ext>
            </a:extLst>
          </p:cNvPr>
          <p:cNvSpPr/>
          <p:nvPr/>
        </p:nvSpPr>
        <p:spPr>
          <a:xfrm>
            <a:off x="4333941" y="3875662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BCFB48-9900-D505-640F-A63B7A5EB1A7}"/>
              </a:ext>
            </a:extLst>
          </p:cNvPr>
          <p:cNvSpPr/>
          <p:nvPr/>
        </p:nvSpPr>
        <p:spPr>
          <a:xfrm>
            <a:off x="7460585" y="1815084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2940F2-D4F3-3ACE-B4BB-9B2C5A3D6D8C}"/>
              </a:ext>
            </a:extLst>
          </p:cNvPr>
          <p:cNvSpPr txBox="1"/>
          <p:nvPr/>
        </p:nvSpPr>
        <p:spPr>
          <a:xfrm>
            <a:off x="7457657" y="2375582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STFT magnitude</a:t>
            </a:r>
          </a:p>
          <a:p>
            <a:pPr algn="ctr"/>
            <a:r>
              <a:rPr lang="en-US" sz="1200" dirty="0"/>
              <a:t>frequency bins × time steps</a:t>
            </a:r>
          </a:p>
          <a:p>
            <a:pPr algn="ctr"/>
            <a:r>
              <a:rPr lang="en-US" sz="1200" dirty="0"/>
              <a:t>encoder input tensor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CB2773-E0D8-68A3-FF7B-FC7CC9E2D301}"/>
              </a:ext>
            </a:extLst>
          </p:cNvPr>
          <p:cNvSpPr txBox="1"/>
          <p:nvPr/>
        </p:nvSpPr>
        <p:spPr>
          <a:xfrm>
            <a:off x="7463514" y="1821938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Learned Spectral Features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035053-556E-6D71-3D2C-D53C5982B745}"/>
              </a:ext>
            </a:extLst>
          </p:cNvPr>
          <p:cNvSpPr/>
          <p:nvPr/>
        </p:nvSpPr>
        <p:spPr>
          <a:xfrm>
            <a:off x="4748361" y="1815084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D25699-74B9-AB90-FFD5-1A8A835D75D5}"/>
              </a:ext>
            </a:extLst>
          </p:cNvPr>
          <p:cNvSpPr txBox="1"/>
          <p:nvPr/>
        </p:nvSpPr>
        <p:spPr>
          <a:xfrm>
            <a:off x="4745433" y="2375582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Short-Time Fourier Transform</a:t>
            </a:r>
          </a:p>
          <a:p>
            <a:pPr algn="ctr"/>
            <a:r>
              <a:rPr lang="en-US" sz="1200" dirty="0"/>
              <a:t>N_fft = 2048</a:t>
            </a:r>
          </a:p>
          <a:p>
            <a:pPr algn="ctr"/>
            <a:r>
              <a:rPr lang="en-US" sz="1200" dirty="0"/>
              <a:t>Hop = 128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C45A00-E493-17C6-D8DD-6E2793979019}"/>
              </a:ext>
            </a:extLst>
          </p:cNvPr>
          <p:cNvSpPr txBox="1"/>
          <p:nvPr/>
        </p:nvSpPr>
        <p:spPr>
          <a:xfrm>
            <a:off x="4751290" y="1821938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Trainable STFT </a:t>
            </a:r>
          </a:p>
          <a:p>
            <a:pPr algn="ctr"/>
            <a:r>
              <a:rPr lang="en-US" dirty="0"/>
              <a:t>Front End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115A08-5CD4-33FB-3E0F-2EE31E793234}"/>
              </a:ext>
            </a:extLst>
          </p:cNvPr>
          <p:cNvSpPr/>
          <p:nvPr/>
        </p:nvSpPr>
        <p:spPr>
          <a:xfrm>
            <a:off x="2033209" y="1815084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3A60B-4890-CB0C-9B23-39DCCA766514}"/>
              </a:ext>
            </a:extLst>
          </p:cNvPr>
          <p:cNvSpPr txBox="1"/>
          <p:nvPr/>
        </p:nvSpPr>
        <p:spPr>
          <a:xfrm>
            <a:off x="2030281" y="2375582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2.5 s waveform slice</a:t>
            </a:r>
          </a:p>
          <a:p>
            <a:pPr algn="ctr"/>
            <a:r>
              <a:rPr lang="en-US" sz="1200" dirty="0"/>
              <a:t>44.1 kHz audio (mono)</a:t>
            </a:r>
          </a:p>
          <a:p>
            <a:pPr algn="ctr"/>
            <a:r>
              <a:rPr lang="en-US" sz="1200" dirty="0"/>
              <a:t>110,250 samples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063F02-36F9-BA14-A70B-E645AEEECD05}"/>
              </a:ext>
            </a:extLst>
          </p:cNvPr>
          <p:cNvSpPr txBox="1"/>
          <p:nvPr/>
        </p:nvSpPr>
        <p:spPr>
          <a:xfrm>
            <a:off x="2036138" y="1821938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Audio Input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55CCEF1-091D-5F40-7542-13765B6824D4}"/>
              </a:ext>
            </a:extLst>
          </p:cNvPr>
          <p:cNvSpPr/>
          <p:nvPr/>
        </p:nvSpPr>
        <p:spPr>
          <a:xfrm>
            <a:off x="7460585" y="3375920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2C2A55-1639-EBE2-B0F7-134F3FFF3377}"/>
              </a:ext>
            </a:extLst>
          </p:cNvPr>
          <p:cNvSpPr txBox="1"/>
          <p:nvPr/>
        </p:nvSpPr>
        <p:spPr>
          <a:xfrm>
            <a:off x="7457657" y="3965190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127 MIDI note channels</a:t>
            </a:r>
            <a:br>
              <a:rPr lang="en-US" sz="1200" dirty="0"/>
            </a:br>
            <a:r>
              <a:rPr lang="en-US" sz="1200" dirty="0"/>
              <a:t>time-aligned activity predictions</a:t>
            </a:r>
            <a:br>
              <a:rPr lang="en-US" sz="1200" dirty="0"/>
            </a:br>
            <a:r>
              <a:rPr lang="en-US" sz="1200" dirty="0"/>
              <a:t>post-processing extracts hits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18C4E5-6805-BA83-FF58-894CB72DB29C}"/>
              </a:ext>
            </a:extLst>
          </p:cNvPr>
          <p:cNvSpPr txBox="1"/>
          <p:nvPr/>
        </p:nvSpPr>
        <p:spPr>
          <a:xfrm>
            <a:off x="7463514" y="3382774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MIDI Activity Heatmap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54FB6B-A4ED-D24A-A925-921BEF2EEB06}"/>
              </a:ext>
            </a:extLst>
          </p:cNvPr>
          <p:cNvSpPr/>
          <p:nvPr/>
        </p:nvSpPr>
        <p:spPr>
          <a:xfrm>
            <a:off x="4748361" y="3375920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84E860-8F57-9A84-16E0-626AE489B2A5}"/>
              </a:ext>
            </a:extLst>
          </p:cNvPr>
          <p:cNvSpPr txBox="1"/>
          <p:nvPr/>
        </p:nvSpPr>
        <p:spPr>
          <a:xfrm>
            <a:off x="4745433" y="3965190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3 ConvTranspose1d stages</a:t>
            </a:r>
            <a:br>
              <a:rPr lang="en-US" sz="1200" dirty="0"/>
            </a:br>
            <a:r>
              <a:rPr lang="en-US" sz="1200" dirty="0"/>
              <a:t>temporal reconstruction</a:t>
            </a:r>
            <a:br>
              <a:rPr lang="en-US" sz="1200" dirty="0"/>
            </a:br>
            <a:r>
              <a:rPr lang="en-US" sz="1200" dirty="0"/>
              <a:t>feature expansion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F7C336-6797-4C8D-FA8F-EB02CFC74813}"/>
              </a:ext>
            </a:extLst>
          </p:cNvPr>
          <p:cNvSpPr txBox="1"/>
          <p:nvPr/>
        </p:nvSpPr>
        <p:spPr>
          <a:xfrm>
            <a:off x="4751290" y="3382774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Transposed-Conv</a:t>
            </a:r>
          </a:p>
          <a:p>
            <a:pPr algn="ctr"/>
            <a:r>
              <a:rPr lang="en-US" dirty="0"/>
              <a:t>Decoder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5E93CC-1709-304C-687C-8F0BC016C8E7}"/>
              </a:ext>
            </a:extLst>
          </p:cNvPr>
          <p:cNvSpPr/>
          <p:nvPr/>
        </p:nvSpPr>
        <p:spPr>
          <a:xfrm>
            <a:off x="2033209" y="3375920"/>
            <a:ext cx="2180515" cy="12270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52683B-8B3B-1592-D147-DF5C00EB3CBD}"/>
              </a:ext>
            </a:extLst>
          </p:cNvPr>
          <p:cNvSpPr txBox="1"/>
          <p:nvPr/>
        </p:nvSpPr>
        <p:spPr>
          <a:xfrm>
            <a:off x="2030281" y="3965190"/>
            <a:ext cx="2180515" cy="63779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 anchorCtr="1">
            <a:noAutofit/>
          </a:bodyPr>
          <a:lstStyle/>
          <a:p>
            <a:pPr algn="ctr"/>
            <a:r>
              <a:rPr lang="en-US" sz="1200" dirty="0"/>
              <a:t>3 Conv1d + </a:t>
            </a:r>
            <a:r>
              <a:rPr lang="en-US" sz="1200" dirty="0" err="1"/>
              <a:t>MaxPool</a:t>
            </a:r>
            <a:r>
              <a:rPr lang="en-US" sz="1200" dirty="0"/>
              <a:t> stages</a:t>
            </a:r>
            <a:br>
              <a:rPr lang="en-US" sz="1200" dirty="0"/>
            </a:br>
            <a:r>
              <a:rPr lang="en-US" sz="1200" dirty="0"/>
              <a:t>progressive channel reduction</a:t>
            </a:r>
            <a:br>
              <a:rPr lang="en-US" sz="1200" dirty="0"/>
            </a:br>
            <a:r>
              <a:rPr lang="en-US" sz="1200" dirty="0"/>
              <a:t>temporal compression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784A52-9ADF-147E-504E-C7B804CD0E1A}"/>
              </a:ext>
            </a:extLst>
          </p:cNvPr>
          <p:cNvSpPr txBox="1"/>
          <p:nvPr/>
        </p:nvSpPr>
        <p:spPr>
          <a:xfrm>
            <a:off x="2036138" y="3382774"/>
            <a:ext cx="2177586" cy="582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dirty="0"/>
              <a:t>Convolutional Encoder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AD78DFA-BAEE-58B3-9D45-AAB0585EC2CA}"/>
              </a:ext>
            </a:extLst>
          </p:cNvPr>
          <p:cNvSpPr/>
          <p:nvPr/>
        </p:nvSpPr>
        <p:spPr>
          <a:xfrm>
            <a:off x="1619609" y="3875662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7C7CF5B-5B2E-D2D5-1E6A-25E8EDF48878}"/>
              </a:ext>
            </a:extLst>
          </p:cNvPr>
          <p:cNvSpPr/>
          <p:nvPr/>
        </p:nvSpPr>
        <p:spPr>
          <a:xfrm>
            <a:off x="7017870" y="2342441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AAF0D01-166B-5CA1-78BC-48B8809871E1}"/>
              </a:ext>
            </a:extLst>
          </p:cNvPr>
          <p:cNvSpPr/>
          <p:nvPr/>
        </p:nvSpPr>
        <p:spPr>
          <a:xfrm>
            <a:off x="7017870" y="3875662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FDCCBA33-2AED-B138-4703-47A05CE19B19}"/>
              </a:ext>
            </a:extLst>
          </p:cNvPr>
          <p:cNvSpPr/>
          <p:nvPr/>
        </p:nvSpPr>
        <p:spPr>
          <a:xfrm>
            <a:off x="9733022" y="2342441"/>
            <a:ext cx="344937" cy="179053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8430D4-F1E8-9D26-7077-1A2094BCFFE5}"/>
              </a:ext>
            </a:extLst>
          </p:cNvPr>
          <p:cNvSpPr txBox="1"/>
          <p:nvPr/>
        </p:nvSpPr>
        <p:spPr>
          <a:xfrm>
            <a:off x="972734" y="3578186"/>
            <a:ext cx="78001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A3B530-E14D-1DC4-7D8F-CC016C3F2102}"/>
              </a:ext>
            </a:extLst>
          </p:cNvPr>
          <p:cNvSpPr txBox="1"/>
          <p:nvPr/>
        </p:nvSpPr>
        <p:spPr>
          <a:xfrm>
            <a:off x="9905490" y="2068904"/>
            <a:ext cx="78001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305" name="PageLabel 305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4 of 12</a:t>
            </a:r>
          </a:p>
        </p:txBody>
      </p:sp>
    </p:spTree>
    <p:extLst>
      <p:ext uri="{BB962C8B-B14F-4D97-AF65-F5344CB8AC3E}">
        <p14:creationId xmlns:p14="http://schemas.microsoft.com/office/powerpoint/2010/main" val="235073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Dataset Construction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BFE73-A958-50B8-1EC1-FD8D256A6520}"/>
              </a:ext>
            </a:extLst>
          </p:cNvPr>
          <p:cNvSpPr txBox="1"/>
          <p:nvPr/>
        </p:nvSpPr>
        <p:spPr>
          <a:xfrm>
            <a:off x="902715" y="3364773"/>
            <a:ext cx="5572683" cy="95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Phase 3 - Generate Target Output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Convert MIDI events into a note–time activity heatmap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Heatmap represents MIDI note number vs time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This heatmap becomes the training target (Y)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97A46-37B7-0F6E-2A7F-2820DA1E5A61}"/>
              </a:ext>
            </a:extLst>
          </p:cNvPr>
          <p:cNvSpPr txBox="1"/>
          <p:nvPr/>
        </p:nvSpPr>
        <p:spPr>
          <a:xfrm>
            <a:off x="891132" y="4446516"/>
            <a:ext cx="5572683" cy="95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Phase 4 - Model Training and Verification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Train the convolutional model on paired X/Y slices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Compare predicted heatmaps to reference targets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Extract note events and generate MIDI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3E2ED-3C69-86A0-3C8E-2431948E7CE0}"/>
              </a:ext>
            </a:extLst>
          </p:cNvPr>
          <p:cNvSpPr txBox="1"/>
          <p:nvPr/>
        </p:nvSpPr>
        <p:spPr>
          <a:xfrm>
            <a:off x="902715" y="1234480"/>
            <a:ext cx="5572683" cy="95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Phase 1 - Generate Training Source Data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Combine thousands of MIDI drum loops into a continuous sequence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Render audio from the MIDI file using multiple drum kits and VST plug-ins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Produce synchronized audio and MIDI recordings (ground truth)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0E883-9429-F3D8-2434-DC9DB6EE9E87}"/>
              </a:ext>
            </a:extLst>
          </p:cNvPr>
          <p:cNvSpPr txBox="1"/>
          <p:nvPr/>
        </p:nvSpPr>
        <p:spPr>
          <a:xfrm>
            <a:off x="907358" y="2283030"/>
            <a:ext cx="5572683" cy="95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Phase 2 - Create Training Examples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Segment recordings into aligned 2.5 s audio–MIDI slices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Preserve exact alignment between waveform and MIDI events</a:t>
            </a:r>
          </a:p>
          <a:p>
            <a:pPr marL="285750" indent="-18288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Use audio slice as model input (X)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99267-34D2-E350-03B7-2E1A80DBBD8B}"/>
              </a:ext>
            </a:extLst>
          </p:cNvPr>
          <p:cNvSpPr txBox="1"/>
          <p:nvPr/>
        </p:nvSpPr>
        <p:spPr>
          <a:xfrm>
            <a:off x="6918945" y="4629899"/>
            <a:ext cx="477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Training dataset: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9.5 hours of synchronized audio–MIDI data</a:t>
            </a:r>
          </a:p>
        </p:txBody>
      </p:sp>
      <p:sp>
        <p:nvSpPr>
          <p:cNvPr id="306" name="PageLabel 306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5 of 12</a:t>
            </a:r>
          </a:p>
        </p:txBody>
      </p:sp>
    </p:spTree>
    <p:extLst>
      <p:ext uri="{BB962C8B-B14F-4D97-AF65-F5344CB8AC3E}">
        <p14:creationId xmlns:p14="http://schemas.microsoft.com/office/powerpoint/2010/main" val="75494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Create the MIDI and Audio Files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96525-13CA-D883-A4F7-DE922FB36CD1}"/>
              </a:ext>
            </a:extLst>
          </p:cNvPr>
          <p:cNvSpPr txBox="1"/>
          <p:nvPr/>
        </p:nvSpPr>
        <p:spPr>
          <a:xfrm>
            <a:off x="648295" y="1413142"/>
            <a:ext cx="98753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 MIDI file combines thousands of MIDI loops into one long file (9.5 hours).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Audio files were then created by using a drum plug-in. 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Multiple drum kits were used to provide a variety of sounds for training.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0B6CC2C-18D9-589A-715D-7290E7A62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3" y="3342010"/>
            <a:ext cx="6818262" cy="26391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13638E9-FC73-824C-B0CD-42C24274F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236" y="3668520"/>
            <a:ext cx="3705632" cy="193222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333BE47-5E29-0D1D-626E-A383D20F05F4}"/>
              </a:ext>
            </a:extLst>
          </p:cNvPr>
          <p:cNvSpPr txBox="1"/>
          <p:nvPr/>
        </p:nvSpPr>
        <p:spPr>
          <a:xfrm>
            <a:off x="664563" y="3008819"/>
            <a:ext cx="543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DAW software showing MIDI file and generated drum audio.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748199-562E-5AB2-7FC2-3CE7EC69A9AD}"/>
              </a:ext>
            </a:extLst>
          </p:cNvPr>
          <p:cNvSpPr txBox="1"/>
          <p:nvPr/>
        </p:nvSpPr>
        <p:spPr>
          <a:xfrm>
            <a:off x="7790708" y="3008819"/>
            <a:ext cx="398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Drum plug-in used to generate audio file.</a:t>
            </a:r>
          </a:p>
        </p:txBody>
      </p:sp>
      <p:sp>
        <p:nvSpPr>
          <p:cNvPr id="307" name="PageLabel 307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6 of 12</a:t>
            </a:r>
          </a:p>
        </p:txBody>
      </p:sp>
    </p:spTree>
    <p:extLst>
      <p:ext uri="{BB962C8B-B14F-4D97-AF65-F5344CB8AC3E}">
        <p14:creationId xmlns:p14="http://schemas.microsoft.com/office/powerpoint/2010/main" val="339255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1127A1-6D2B-AB72-70B9-8674398A817E}"/>
              </a:ext>
            </a:extLst>
          </p:cNvPr>
          <p:cNvSpPr/>
          <p:nvPr/>
        </p:nvSpPr>
        <p:spPr>
          <a:xfrm>
            <a:off x="7378330" y="1843671"/>
            <a:ext cx="527770" cy="334094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Training the Model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8CDB4-F410-242F-378F-E1D6F3D30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73" y="2658016"/>
            <a:ext cx="2831788" cy="1781597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651D85-2F2F-4171-0ABC-46B7C4AEDC23}"/>
              </a:ext>
            </a:extLst>
          </p:cNvPr>
          <p:cNvSpPr/>
          <p:nvPr/>
        </p:nvSpPr>
        <p:spPr>
          <a:xfrm>
            <a:off x="3188261" y="3402107"/>
            <a:ext cx="461427" cy="179448"/>
          </a:xfrm>
          <a:prstGeom prst="rightArrow">
            <a:avLst/>
          </a:prstGeom>
          <a:solidFill>
            <a:srgbClr val="4074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AAB25-E805-AF67-4486-179355D5E097}"/>
              </a:ext>
            </a:extLst>
          </p:cNvPr>
          <p:cNvSpPr txBox="1"/>
          <p:nvPr/>
        </p:nvSpPr>
        <p:spPr>
          <a:xfrm>
            <a:off x="322205" y="1983563"/>
            <a:ext cx="31428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Input: drum recording (wav)</a:t>
            </a:r>
          </a:p>
          <a:p>
            <a:pPr algn="ctr">
              <a:spcBef>
                <a:spcPts val="600"/>
              </a:spcBef>
            </a:pPr>
            <a:r>
              <a:rPr lang="en-US" altLang="en-US" sz="1400" dirty="0" err="1">
                <a:latin typeface="+mj-lt"/>
              </a:rPr>
              <a:t>torch.Size</a:t>
            </a:r>
            <a:r>
              <a:rPr lang="en-US" altLang="en-US" sz="1400" dirty="0">
                <a:latin typeface="+mj-lt"/>
              </a:rPr>
              <a:t>([1, 110250]) </a:t>
            </a:r>
            <a:endParaRPr lang="en-US" sz="14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66BB0D-B60B-BDED-3AEE-E7E4640A7EE1}"/>
              </a:ext>
            </a:extLst>
          </p:cNvPr>
          <p:cNvSpPr txBox="1"/>
          <p:nvPr/>
        </p:nvSpPr>
        <p:spPr>
          <a:xfrm>
            <a:off x="8460237" y="1983819"/>
            <a:ext cx="3300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Target Output (Y) – MIDI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C91108-F56A-1769-8429-8D8BCDFDC87B}"/>
              </a:ext>
            </a:extLst>
          </p:cNvPr>
          <p:cNvSpPr txBox="1"/>
          <p:nvPr/>
        </p:nvSpPr>
        <p:spPr>
          <a:xfrm>
            <a:off x="4230658" y="1983819"/>
            <a:ext cx="2594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STFT of Input (nnAudio)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1D814-6FB9-6B22-7ADE-21A92BBB1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557" y="2397837"/>
            <a:ext cx="3415189" cy="23911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849AED-30DB-F27B-9828-1A218B2A4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311" y="2397838"/>
            <a:ext cx="3870574" cy="2391108"/>
          </a:xfrm>
          <a:prstGeom prst="rect">
            <a:avLst/>
          </a:prstGeom>
        </p:spPr>
      </p:pic>
      <p:sp>
        <p:nvSpPr>
          <p:cNvPr id="21" name="Left Brace 20">
            <a:extLst>
              <a:ext uri="{FF2B5EF4-FFF2-40B4-BE49-F238E27FC236}">
                <a16:creationId xmlns:a16="http://schemas.microsoft.com/office/drawing/2014/main" id="{407EFC04-F227-EFE4-1A4E-59CFA51F6439}"/>
              </a:ext>
            </a:extLst>
          </p:cNvPr>
          <p:cNvSpPr/>
          <p:nvPr/>
        </p:nvSpPr>
        <p:spPr>
          <a:xfrm rot="16200000">
            <a:off x="3584118" y="1707383"/>
            <a:ext cx="294437" cy="6818263"/>
          </a:xfrm>
          <a:prstGeom prst="leftBrace">
            <a:avLst>
              <a:gd name="adj1" fmla="val 8333"/>
              <a:gd name="adj2" fmla="val 4975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E87421D2-D491-F96F-760A-4FD4DB2B4AF8}"/>
              </a:ext>
            </a:extLst>
          </p:cNvPr>
          <p:cNvSpPr/>
          <p:nvPr/>
        </p:nvSpPr>
        <p:spPr>
          <a:xfrm rot="16200000">
            <a:off x="9963088" y="3261586"/>
            <a:ext cx="294437" cy="3709855"/>
          </a:xfrm>
          <a:prstGeom prst="leftBrace">
            <a:avLst>
              <a:gd name="adj1" fmla="val 8333"/>
              <a:gd name="adj2" fmla="val 4975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78DA8-81D8-999F-C53B-6E68BE28CB0C}"/>
              </a:ext>
            </a:extLst>
          </p:cNvPr>
          <p:cNvSpPr txBox="1"/>
          <p:nvPr/>
        </p:nvSpPr>
        <p:spPr>
          <a:xfrm>
            <a:off x="2317156" y="5347455"/>
            <a:ext cx="3103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X data for training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7B1DD7-8217-5A84-D296-62940C24B090}"/>
              </a:ext>
            </a:extLst>
          </p:cNvPr>
          <p:cNvSpPr txBox="1"/>
          <p:nvPr/>
        </p:nvSpPr>
        <p:spPr>
          <a:xfrm>
            <a:off x="8558322" y="5347455"/>
            <a:ext cx="3103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Y data for training </a:t>
            </a:r>
          </a:p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(Ground Truth)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81C62D-1322-5A6E-EA2D-32854F33CD77}"/>
              </a:ext>
            </a:extLst>
          </p:cNvPr>
          <p:cNvSpPr txBox="1"/>
          <p:nvPr/>
        </p:nvSpPr>
        <p:spPr>
          <a:xfrm>
            <a:off x="6117248" y="5346532"/>
            <a:ext cx="3103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7F48E9-3048-5366-8047-54AED40D617D}"/>
              </a:ext>
            </a:extLst>
          </p:cNvPr>
          <p:cNvSpPr txBox="1"/>
          <p:nvPr/>
        </p:nvSpPr>
        <p:spPr>
          <a:xfrm>
            <a:off x="7468497" y="1944482"/>
            <a:ext cx="3381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ONV-LAY     E</a:t>
            </a: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A01234-1D0C-8583-9110-4B4E14F0B864}"/>
              </a:ext>
            </a:extLst>
          </p:cNvPr>
          <p:cNvSpPr txBox="1"/>
          <p:nvPr/>
        </p:nvSpPr>
        <p:spPr>
          <a:xfrm>
            <a:off x="390248" y="1433410"/>
            <a:ext cx="7571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Note that the STFT data aligns with the note data in the target output.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3355ADC-D895-E59A-BD8D-5836A259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63068" y="1708823"/>
            <a:ext cx="2850576" cy="153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torch.Size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([32, 110250])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8" name="PageLabel 308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7 of 12</a:t>
            </a:r>
          </a:p>
        </p:txBody>
      </p:sp>
    </p:spTree>
    <p:extLst>
      <p:ext uri="{BB962C8B-B14F-4D97-AF65-F5344CB8AC3E}">
        <p14:creationId xmlns:p14="http://schemas.microsoft.com/office/powerpoint/2010/main" val="306923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Results – Target Output vs Actual Output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66BB0D-B60B-BDED-3AEE-E7E4640A7EE1}"/>
              </a:ext>
            </a:extLst>
          </p:cNvPr>
          <p:cNvSpPr txBox="1"/>
          <p:nvPr/>
        </p:nvSpPr>
        <p:spPr>
          <a:xfrm>
            <a:off x="6838402" y="1169542"/>
            <a:ext cx="4465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Actual Model Output – MIDI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C91108-F56A-1769-8429-8D8BCDFDC87B}"/>
              </a:ext>
            </a:extLst>
          </p:cNvPr>
          <p:cNvSpPr txBox="1"/>
          <p:nvPr/>
        </p:nvSpPr>
        <p:spPr>
          <a:xfrm>
            <a:off x="992175" y="1175286"/>
            <a:ext cx="4901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Target Output – MIDI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C765F-5519-0D56-E6BB-EEC57D5627BB}"/>
              </a:ext>
            </a:extLst>
          </p:cNvPr>
          <p:cNvSpPr txBox="1"/>
          <p:nvPr/>
        </p:nvSpPr>
        <p:spPr>
          <a:xfrm>
            <a:off x="774289" y="4628579"/>
            <a:ext cx="658356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dots represent: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relative timing (X axis)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MIDI note number (Y axis)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Velocity of the note (dot brightness).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F0037-5AE6-F3C1-A413-23E5CDEEB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32"/>
          <a:stretch>
            <a:fillRect/>
          </a:stretch>
        </p:blipFill>
        <p:spPr>
          <a:xfrm>
            <a:off x="6205726" y="1497845"/>
            <a:ext cx="5299050" cy="30262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F0905A-0400-41D0-0037-CBA616EDE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49"/>
          <a:stretch>
            <a:fillRect/>
          </a:stretch>
        </p:blipFill>
        <p:spPr>
          <a:xfrm>
            <a:off x="598752" y="1515721"/>
            <a:ext cx="5299050" cy="3026274"/>
          </a:xfrm>
          <a:prstGeom prst="rect">
            <a:avLst/>
          </a:prstGeom>
        </p:spPr>
      </p:pic>
      <p:sp>
        <p:nvSpPr>
          <p:cNvPr id="309" name="PageLabel 309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8 of 12</a:t>
            </a:r>
          </a:p>
        </p:txBody>
      </p:sp>
    </p:spTree>
    <p:extLst>
      <p:ext uri="{BB962C8B-B14F-4D97-AF65-F5344CB8AC3E}">
        <p14:creationId xmlns:p14="http://schemas.microsoft.com/office/powerpoint/2010/main" val="413339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Results – Actual Values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96525-13CA-D883-A4F7-DE922FB36CD1}"/>
              </a:ext>
            </a:extLst>
          </p:cNvPr>
          <p:cNvSpPr txBox="1"/>
          <p:nvPr/>
        </p:nvSpPr>
        <p:spPr>
          <a:xfrm>
            <a:off x="891222" y="1671083"/>
            <a:ext cx="48255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For this 2.5s slice (2552), the note (x) and relative time (y) values match exactly between the actual and predicted MIDI values.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Conclusion: The model accurately predicted the timing and the specific drums triggered from a random audio sample, even when multiple drums were triggered simultaneously.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values (note velocity) are higher on the post-modeled files. More detailed scaling analysis is required to improve.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For this example: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Slice number: 2552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Threshold: 0.5</a:t>
            </a:r>
            <a:br>
              <a:rPr lang="en-US" sz="1600" dirty="0">
                <a:latin typeface="+mj-lt"/>
              </a:rPr>
            </a:br>
            <a:endParaRPr lang="en-US" sz="16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1FCDD6-8FD9-4DD1-49E0-BC1E63FF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144" y="2250810"/>
            <a:ext cx="1790950" cy="2629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96152A-8B7C-6084-2D90-FDFDFEC74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328" y="2241283"/>
            <a:ext cx="1686160" cy="2648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2447A1-546E-8E0A-D90B-8CE94D4AAF75}"/>
              </a:ext>
            </a:extLst>
          </p:cNvPr>
          <p:cNvSpPr txBox="1"/>
          <p:nvPr/>
        </p:nvSpPr>
        <p:spPr>
          <a:xfrm>
            <a:off x="6254704" y="1891743"/>
            <a:ext cx="1963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Original midi file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1E2AA-9B0F-FEC0-2147-3B72FE0B4E01}"/>
              </a:ext>
            </a:extLst>
          </p:cNvPr>
          <p:cNvSpPr txBox="1"/>
          <p:nvPr/>
        </p:nvSpPr>
        <p:spPr>
          <a:xfrm>
            <a:off x="8674547" y="1890522"/>
            <a:ext cx="1963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Post-modeled midi file</a:t>
            </a:r>
          </a:p>
        </p:txBody>
      </p:sp>
      <p:sp>
        <p:nvSpPr>
          <p:cNvPr id="310" name="PageLabel 310"/>
          <p:cNvSpPr txBox="1"/>
          <p:nvPr/>
        </p:nvSpPr>
        <p:spPr>
          <a:xfrm>
            <a:off x="11037489" y="642000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9 of 12</a:t>
            </a:r>
          </a:p>
        </p:txBody>
      </p:sp>
    </p:spTree>
    <p:extLst>
      <p:ext uri="{BB962C8B-B14F-4D97-AF65-F5344CB8AC3E}">
        <p14:creationId xmlns:p14="http://schemas.microsoft.com/office/powerpoint/2010/main" val="45914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Biggest Challenges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8763A-C65B-3169-102F-D499F34EC93A}"/>
              </a:ext>
            </a:extLst>
          </p:cNvPr>
          <p:cNvSpPr txBox="1"/>
          <p:nvPr/>
        </p:nvSpPr>
        <p:spPr>
          <a:xfrm>
            <a:off x="881402" y="1428452"/>
            <a:ext cx="477569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Quality drum data. Used drum samples from Kontakt, EZ Drummer 3, and individual one-shots.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Even with a folder full of individual drums (toms, for example), there will be outliers. Electronic drums sound different than acoustic drums, for example.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Required: A larger curated drum set. With 10,000’s of drums - curating this data was the largest challenge.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Developed unsupervised K-clustering to sort and classify drums. Effective.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Memory. Deeper algorithms use more memory and take longer to model. Needed to keep GPU memory below 8GB to run on laptop’s NVIDIA GeForce RTX3080.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CB177-D298-357F-D9A8-F00A26C98E2D}"/>
              </a:ext>
            </a:extLst>
          </p:cNvPr>
          <p:cNvSpPr txBox="1"/>
          <p:nvPr/>
        </p:nvSpPr>
        <p:spPr>
          <a:xfrm>
            <a:off x="5898594" y="1428452"/>
            <a:ext cx="564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1200"/>
              </a:spcAft>
              <a:buFont typeface="+mj-lt"/>
              <a:buAutoNum type="arabicPeriod"/>
            </a:pPr>
            <a:endParaRPr lang="en-US" sz="1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2F39E-56EE-6DA6-E16B-4FE8DE016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700" y="2551192"/>
            <a:ext cx="4401164" cy="28102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97503-C8EA-4A69-D11F-C5559F2ADF0F}"/>
              </a:ext>
            </a:extLst>
          </p:cNvPr>
          <p:cNvSpPr txBox="1"/>
          <p:nvPr/>
        </p:nvSpPr>
        <p:spPr>
          <a:xfrm>
            <a:off x="6300298" y="1441761"/>
            <a:ext cx="4665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Below are the results from K-clustering approximately 2,000 individual tom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drum samples.</a:t>
            </a:r>
          </a:p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primary separator was the tone, with tom1 being the lowest in frequency.</a:t>
            </a:r>
          </a:p>
        </p:txBody>
      </p:sp>
      <p:sp>
        <p:nvSpPr>
          <p:cNvPr id="311" name="PageLabel 311"/>
          <p:cNvSpPr txBox="1"/>
          <p:nvPr/>
        </p:nvSpPr>
        <p:spPr>
          <a:xfrm>
            <a:off x="10976575" y="642000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10 of 12</a:t>
            </a:r>
          </a:p>
        </p:txBody>
      </p:sp>
    </p:spTree>
    <p:extLst>
      <p:ext uri="{BB962C8B-B14F-4D97-AF65-F5344CB8AC3E}">
        <p14:creationId xmlns:p14="http://schemas.microsoft.com/office/powerpoint/2010/main" val="23867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411F-2C8A-E8FD-C36C-BCEB66A9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39" y="286603"/>
            <a:ext cx="10024311" cy="796239"/>
          </a:xfrm>
        </p:spPr>
        <p:txBody>
          <a:bodyPr>
            <a:normAutofit/>
          </a:bodyPr>
          <a:lstStyle/>
          <a:p>
            <a:r>
              <a:rPr lang="en-US" sz="3600" dirty="0"/>
              <a:t>Lessons Learned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8763A-C65B-3169-102F-D499F34EC93A}"/>
              </a:ext>
            </a:extLst>
          </p:cNvPr>
          <p:cNvSpPr txBox="1"/>
          <p:nvPr/>
        </p:nvSpPr>
        <p:spPr>
          <a:xfrm>
            <a:off x="886438" y="1285634"/>
            <a:ext cx="488038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Results were strong for drums used during training.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Broader generalization requires a larger curated dataset.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More tuning of the model would be helpful, including steps that would increase GPU memory consumption.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MIDI note resolution: 3ms. Could be decreased at the expense of more GPU memory and longer training.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Tip: Input tensor length must be compatible with convolution algorithms. This program needed to truncate input tensor from 862 to 832 samples.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Tip: Create a test tensor with random data to confirm that the model produces the expected output data format. The output from the model must match the format of the Y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CB177-D298-357F-D9A8-F00A26C98E2D}"/>
              </a:ext>
            </a:extLst>
          </p:cNvPr>
          <p:cNvSpPr txBox="1"/>
          <p:nvPr/>
        </p:nvSpPr>
        <p:spPr>
          <a:xfrm>
            <a:off x="6183974" y="1453932"/>
            <a:ext cx="5596026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 summary, I was able to: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Identify a practical solution to generate MIDI from audio.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Develop a strategy for generating supervised X/Y training data.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Create large synchronized audio and MIDI datasets.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Generate curated and cleaned-up data for modeling.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Implement a convolutional neural network from scratch.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Use k-means clustering to categorize drum samples.</a:t>
            </a:r>
          </a:p>
          <a:p>
            <a:pPr marL="182880" indent="-18288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Deliver a working system using Python and PyTorch.</a:t>
            </a:r>
          </a:p>
        </p:txBody>
      </p:sp>
      <p:sp>
        <p:nvSpPr>
          <p:cNvPr id="312" name="PageLabel 312"/>
          <p:cNvSpPr txBox="1"/>
          <p:nvPr/>
        </p:nvSpPr>
        <p:spPr>
          <a:xfrm>
            <a:off x="10976575" y="642000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11 of 12</a:t>
            </a:r>
          </a:p>
        </p:txBody>
      </p:sp>
    </p:spTree>
    <p:extLst>
      <p:ext uri="{BB962C8B-B14F-4D97-AF65-F5344CB8AC3E}">
        <p14:creationId xmlns:p14="http://schemas.microsoft.com/office/powerpoint/2010/main" val="44928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828781-3891-193E-6686-15D55A9404D2}"/>
              </a:ext>
            </a:extLst>
          </p:cNvPr>
          <p:cNvSpPr txBox="1"/>
          <p:nvPr/>
        </p:nvSpPr>
        <p:spPr>
          <a:xfrm>
            <a:off x="3837481" y="2750695"/>
            <a:ext cx="47968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Thank you!</a:t>
            </a:r>
          </a:p>
        </p:txBody>
      </p:sp>
      <p:sp>
        <p:nvSpPr>
          <p:cNvPr id="200" name="Footer Bar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PageLabel 313"/>
          <p:cNvSpPr txBox="1"/>
          <p:nvPr/>
        </p:nvSpPr>
        <p:spPr>
          <a:xfrm>
            <a:off x="10976575" y="642000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rgbClr val="FFFFFF"/>
                </a:solidFill>
              </a:rPr>
              <a:t>Page 12 of 12</a:t>
            </a:r>
          </a:p>
        </p:txBody>
      </p:sp>
    </p:spTree>
    <p:extLst>
      <p:ext uri="{BB962C8B-B14F-4D97-AF65-F5344CB8AC3E}">
        <p14:creationId xmlns:p14="http://schemas.microsoft.com/office/powerpoint/2010/main" val="241823084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{FEECF48D-1E2B-40B0-9461-ABEB51108B2D}tf22712842_win32</Template>
  <TotalTime>3246</TotalTime>
  <Words>1050</Words>
  <Application>Microsoft Office PowerPoint</Application>
  <PresentationFormat>Widescreen</PresentationFormat>
  <Paragraphs>151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 Unicode MS</vt:lpstr>
      <vt:lpstr>Arial</vt:lpstr>
      <vt:lpstr>Bookman Old Style</vt:lpstr>
      <vt:lpstr>Calibri</vt:lpstr>
      <vt:lpstr>Franklin Gothic Book</vt:lpstr>
      <vt:lpstr>Segoe UI</vt:lpstr>
      <vt:lpstr>1_RetrospectVTI</vt:lpstr>
      <vt:lpstr>Machine Learning System: Drum Audio → MIDI</vt:lpstr>
      <vt:lpstr>Project Goal</vt:lpstr>
      <vt:lpstr>System Overview</vt:lpstr>
      <vt:lpstr>Architecture Diagram</vt:lpstr>
      <vt:lpstr>Dataset Construction</vt:lpstr>
      <vt:lpstr>Create the MIDI and Audio Files</vt:lpstr>
      <vt:lpstr>Training the Model</vt:lpstr>
      <vt:lpstr>Results – Target Output vs Actual Output</vt:lpstr>
      <vt:lpstr>Results – Actual Values</vt:lpstr>
      <vt:lpstr>Biggest Challenges</vt:lpstr>
      <vt:lpstr>Lessons Learned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Robert McKean</dc:creator>
  <cp:lastModifiedBy>Robert McKean</cp:lastModifiedBy>
  <cp:revision>10</cp:revision>
  <dcterms:created xsi:type="dcterms:W3CDTF">2022-10-05T21:57:48Z</dcterms:created>
  <dcterms:modified xsi:type="dcterms:W3CDTF">2026-03-16T11:18:23Z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